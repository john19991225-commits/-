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本專題不是只做 OCR 或聊天機器人，而是由倉儲單據出發，查詢庫存、套用規則、辨識異常、保留證據，並在高風險情況交由人員確認。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即使倉庫使用 WMS，前端資料輸入與核對仍可能依賴人工。調查樣本只有 101，不外推全球；它只用來說明實務問題仍存在。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輸入包含文件與外部狀態；輸出必須有結構欄位、異常、建議及證據。沒有足夠證據時，正確行為是停止或升級。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四個問題分別回答辨識、異常、Agent 增益與可信任性，避免只有 demo 而沒有可驗證研究問題。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十篇核心研究維持 AI 與 Warehouse 各半。表中只陳述來源明示結果；跨研究數值不可直接比較。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 mindset 把 OCR 工具轉成 domain agent。例如負庫存只是 observation，不代表 Agent 已經知道 root cause。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不是二選一。共識是依風險採 hybrid 設計；最佳門檻、人工負荷與 domain shift 仍要由本地資料回答。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報告時可深入第 1、3、4、7 題。十題涵蓋 Why、What-if、Trade-off、Evidence、Comparison 與 Failure Case。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OCR、SQL 和規則仍是普通可測試工具。Planner 的價值在於依中間結果選擇下一步或安全停止。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架構把 perception、analytics、rules、decision 與 interaction 分開，使錯誤可定位，每個模組可單獨驗證。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失敗不是空值成功。OCR retry 只做一次，缺欄、資料失效、規則衝突、重複與庫存不一致都進人工。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演算法重點不是 92 行本身，而是每個 exit condition 都 fail-safe，並且原型沒有自動寫正式庫存的能力。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這頁誠實區分程式存在、部分完成與規劃。六個測試只支持合成 fixture 的端到端行為。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公開收據只驗證 pipeline，不代表臺灣倉儲。主資料尚未取得，不能填入假樣本數或結果。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 是關鍵控制組。三者必須用相同資料；B1/B2 還要共用 OCR、parser、rules 與 threshold。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所有方案按同一 manifest 配對比較。Agent 成功還要求選對工具、沒有越權、證據完整且 disposition 正確。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預期貢獻必須能被反駁、量測，並在失敗時安全停止。是否改善 F1 或時間只能由後續實驗回答。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目前完成 Proposal、Deep Research、Design、PPTX 與合成資料 MVP。下一個 gate 是教師確認、合規資料與 pilot，不是先填漂亮數字。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46304" cy="5349240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960120"/>
            <a:ext cx="9966960" cy="9601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Smart Warehouse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9784080" cy="6858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50C2C9"/>
                </a:solidFill>
                <a:latin typeface="Microsoft JhengHei"/>
              </a:rPr>
              <a:t>智慧倉儲單據辨識與庫存異常決策代理人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960120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EE8F3D"/>
                </a:solidFill>
                <a:latin typeface="Microsoft JhengHei"/>
              </a:rPr>
              <a:t>Final 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01568"/>
            <a:ext cx="960120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JhengHei"/>
              </a:rPr>
              <a:t>AI Agent  ×  Domain Knowledge  ×  Data Analytics  ×  Real-World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51960"/>
            <a:ext cx="1600200" cy="658368"/>
          </a:xfrm>
          <a:prstGeom prst="roundRect">
            <a:avLst/>
          </a:prstGeom>
          <a:solidFill>
            <a:srgbClr val="193852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0898E"/>
                </a:solidFill>
                <a:latin typeface="Microsoft JhengHei"/>
              </a:rPr>
              <a:t>DOCUMENT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4581144"/>
            <a:ext cx="39319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4251960"/>
            <a:ext cx="1600200" cy="658368"/>
          </a:xfrm>
          <a:prstGeom prst="roundRect">
            <a:avLst/>
          </a:prstGeom>
          <a:solidFill>
            <a:srgbClr val="193852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50C2C9"/>
                </a:solidFill>
                <a:latin typeface="Microsoft JhengHei"/>
              </a:rPr>
              <a:t>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4581144"/>
            <a:ext cx="39319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4251960"/>
            <a:ext cx="1600200" cy="658368"/>
          </a:xfrm>
          <a:prstGeom prst="roundRect">
            <a:avLst/>
          </a:prstGeom>
          <a:solidFill>
            <a:srgbClr val="193852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EE8F3D"/>
                </a:solidFill>
                <a:latin typeface="Microsoft JhengHei"/>
              </a:rPr>
              <a:t>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4581144"/>
            <a:ext cx="39319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4251960"/>
            <a:ext cx="1600200" cy="658368"/>
          </a:xfrm>
          <a:prstGeom prst="roundRect">
            <a:avLst/>
          </a:prstGeom>
          <a:solidFill>
            <a:srgbClr val="193852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279A6B"/>
                </a:solidFill>
                <a:latin typeface="Microsoft JhengHei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42432"/>
            <a:ext cx="960120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D3DEE4"/>
                </a:solidFill>
                <a:latin typeface="Microsoft JhengHei"/>
              </a:rPr>
              <a:t>組員／課程／指導教師：請於正式繳交前填寫　｜　2026-10-31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Research Motivation｜研究動機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Source: Michel (2025), Warehouse/DC Operations Survey, n=101；產業調查，非全球母體推論。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971800" cy="182880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3000" b="1">
                <a:solidFill>
                  <a:srgbClr val="00898E"/>
                </a:solidFill>
                <a:latin typeface="Microsoft JhengHei"/>
              </a:rPr>
              <a:t>87%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使用 WMS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2971800" cy="182880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3000" b="1">
                <a:solidFill>
                  <a:srgbClr val="EE8F3D"/>
                </a:solidFill>
                <a:latin typeface="Microsoft JhengHei"/>
              </a:rPr>
              <a:t>51%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仍人工蒐集生產力資料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25880"/>
            <a:ext cx="2971800" cy="182880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3000" b="1">
                <a:solidFill>
                  <a:srgbClr val="50C2C9"/>
                </a:solidFill>
                <a:latin typeface="Microsoft JhengHei"/>
              </a:rPr>
              <a:t>76%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使用 inventory accuracy 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070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600" b="1">
                <a:solidFill>
                  <a:srgbClr val="0F233A"/>
                </a:solidFill>
                <a:latin typeface="Microsoft JhengHei"/>
              </a:rPr>
              <a:t>數位化 ≠ 資料可靠 ≠ 異常可解釋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987552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800" b="0">
                <a:solidFill>
                  <a:srgbClr val="232D37"/>
                </a:solidFill>
                <a:latin typeface="Microsoft JhengHei"/>
              </a:rPr>
              <a:t>前端單據仍可能含 OCR、缺欄、單位與版型錯誤。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800" b="0">
                <a:solidFill>
                  <a:srgbClr val="232D37"/>
                </a:solidFill>
                <a:latin typeface="Microsoft JhengHei"/>
              </a:rPr>
              <a:t>決策需要文件、庫存、規則、證據與人工責任共同成立。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Problem Definition｜從文件到安全決策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Scope: recommendation-only；不直接寫正式 WMS/ERP。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2402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00898E"/>
                </a:solidFill>
                <a:latin typeface="Microsoft JhengHei"/>
              </a:rPr>
              <a:t>INPUT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圖片／PDF
庫存 snapshot
主檔／歷史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3035808"/>
            <a:ext cx="274320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54680" y="1508760"/>
            <a:ext cx="22402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EE8F3D"/>
                </a:solidFill>
                <a:latin typeface="Microsoft JhengHei"/>
              </a:rPr>
              <a:t>UNCERTAINTY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版型／OCR error
缺欄／資料衝突
過期 snapshot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3035808"/>
            <a:ext cx="274320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15000" y="1508760"/>
            <a:ext cx="22402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50C2C9"/>
                </a:solidFill>
                <a:latin typeface="Microsoft JhengHei"/>
              </a:rPr>
              <a:t>DOMAIN CHECK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duplicate
數量／單位
倉別／SKU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3035808"/>
            <a:ext cx="274321" cy="0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1508760"/>
            <a:ext cx="22402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279A6B"/>
                </a:solidFill>
                <a:latin typeface="Microsoft JhengHei"/>
              </a:rPr>
              <a:t>OUTPUT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欄位＋異常
建議＋evidence
human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83480"/>
            <a:ext cx="10789920" cy="68580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100" b="1">
                <a:solidFill>
                  <a:srgbClr val="0F233A"/>
                </a:solidFill>
                <a:latin typeface="Microsoft JhengHei"/>
              </a:rPr>
              <a:t>研究單位不是「辨識多少字」，而是「證據是否足以支持可追溯的倉儲建議」。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Research Questions &amp; Measurable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RQ 與指標需在 test 前凍結；正式實驗目前 Not Run。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108960" cy="786384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800" b="1">
                <a:solidFill>
                  <a:srgbClr val="00898E"/>
                </a:solidFill>
                <a:latin typeface="Microsoft JhengHei"/>
              </a:rPr>
              <a:t>RQ1 文件理解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1627632"/>
            <a:ext cx="502920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234440"/>
            <a:ext cx="699516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00898E"/>
                </a:solidFill>
                <a:latin typeface="Microsoft JhengHei"/>
              </a:rPr>
              <a:t>CER／Field EM／Document EM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可重現、可稽核、學生電腦可執行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3108960" cy="786384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800" b="1">
                <a:solidFill>
                  <a:srgbClr val="EE8F3D"/>
                </a:solidFill>
                <a:latin typeface="Microsoft JhengHei"/>
              </a:rPr>
              <a:t>RQ2 異常決策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2798064"/>
            <a:ext cx="502920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2404872"/>
            <a:ext cx="699516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EE8F3D"/>
                </a:solidFill>
                <a:latin typeface="Microsoft JhengHei"/>
              </a:rPr>
              <a:t>Precision／Recall／macro-F1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可重現、可稽核、學生電腦可執行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75304"/>
            <a:ext cx="3108960" cy="786384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800" b="1">
                <a:solidFill>
                  <a:srgbClr val="50C2C9"/>
                </a:solidFill>
                <a:latin typeface="Microsoft JhengHei"/>
              </a:rPr>
              <a:t>RQ3 Agent 價值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968496"/>
            <a:ext cx="502920" cy="0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3575304"/>
            <a:ext cx="699516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50C2C9"/>
                </a:solidFill>
                <a:latin typeface="Microsoft JhengHei"/>
              </a:rPr>
              <a:t>工具選擇／完成率／人工介入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可重現、可稽核、學生電腦可執行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45736"/>
            <a:ext cx="3108960" cy="786384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800" b="1">
                <a:solidFill>
                  <a:srgbClr val="279A6B"/>
                </a:solidFill>
                <a:latin typeface="Microsoft JhengHei"/>
              </a:rPr>
              <a:t>RQ4 Trustworthiness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5138927"/>
            <a:ext cx="502920" cy="0"/>
          </a:xfrm>
          <a:prstGeom prst="line">
            <a:avLst/>
          </a:prstGeom>
          <a:ln w="25400">
            <a:solidFill>
              <a:srgbClr val="279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4745736"/>
            <a:ext cx="699516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279A6B"/>
                </a:solidFill>
                <a:latin typeface="Microsoft JhengHei"/>
              </a:rPr>
              <a:t>evidence coverage／false auto-accept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可重現、可稽核、學生電腦可執行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Related Work｜10 篇核心研究與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AI: [1]–[5]；Warehouse: [6]–[9], [13]。詳細八欄表見 README/proposal.md。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15568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94360"/>
                <a:gridCol w="2971800"/>
                <a:gridCol w="2834640"/>
                <a:gridCol w="347472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Ref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Year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Problem / Method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Domain / Dataset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Finding / Limitation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[1] DocAgent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multi-agent retrieval + reviewer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 long-doc benchmarks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支援交叉核對；非倉儲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[2] AID-Agent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OCR + LLM agent + tools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44 industrial PDFs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工具化抽取；小型案例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[3] Domain IE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human/rules/LLM comparison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real-estate case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存在成本與維護權衡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[4][5] SROIE/DocVQA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2019/21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OCR/KIE/VQA benchmarks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receipts/documents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無庫存與決策標註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[6] IoT review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systematic review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warehouse/inventory IoT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實務導入仍有限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[7] Inventory anomaly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ensemble（摘要）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12,358 SKUs（摘要）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F1 87.3%（摘要）；全文待查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[8] AI picking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case + simulation + interviews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warehouse picking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效益與導入挑戰並存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[9][13] Smart warehouse/DT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2026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SLR / review framework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warehouse ecosystems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32D37"/>
                          </a:solidFill>
                          <a:latin typeface="Microsoft JhengHei"/>
                        </a:rPr>
                        <a:t>整合視角；非 document agent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440680"/>
            <a:ext cx="10972800" cy="694944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F233A"/>
                </a:solidFill>
                <a:latin typeface="Microsoft JhengHei"/>
              </a:rPr>
              <a:t>GAP  文件 AI 多停在抽取／問答；倉儲 AI 多假設資料已結構化。
OUR PROJECT  document → inventory context → domain rules → evidence-backed decision → human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Five Expert Mindsets｜領域知識如何進入設計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DEEP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Evidence: GS1 [10], NIST [12], DeHoratius &amp; Raman [14], Destro [DR16], Chuang &amp; Oliva [DR20].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96596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800" b="1">
                <a:solidFill>
                  <a:srgbClr val="00898E"/>
                </a:solidFill>
                <a:latin typeface="Microsoft JhengHei"/>
              </a:rPr>
              <a:t>1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流程與狀態守恆
before → event → after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17320"/>
            <a:ext cx="196596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800" b="1">
                <a:solidFill>
                  <a:srgbClr val="50C2C9"/>
                </a:solidFill>
                <a:latin typeface="Microsoft JhengHei"/>
              </a:rPr>
              <a:t>2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唯一識別與追溯
ID +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417320"/>
            <a:ext cx="196596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800" b="1">
                <a:solidFill>
                  <a:srgbClr val="EE8F3D"/>
                </a:solidFill>
                <a:latin typeface="Microsoft JhengHei"/>
              </a:rPr>
              <a:t>3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Fitness for Use
品質依任務與風險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417320"/>
            <a:ext cx="196596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800" b="1">
                <a:solidFill>
                  <a:srgbClr val="C14145"/>
                </a:solidFill>
                <a:latin typeface="Microsoft JhengHei"/>
              </a:rPr>
              <a:t>4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例外與風險優先
把人工留給高風險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417320"/>
            <a:ext cx="1965960" cy="342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800" b="1">
                <a:solidFill>
                  <a:srgbClr val="279A6B"/>
                </a:solidFill>
                <a:latin typeface="Microsoft JhengHei"/>
              </a:rPr>
              <a:t>5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閉環校正與根因
異常 ≠ 根因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0F233A"/>
                </a:solidFill>
                <a:latin typeface="Microsoft JhengHei"/>
              </a:rPr>
              <a:t>Design translation：snapshot freshness｜evidence IDs｜quality gates｜human escalation｜append-only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Three Professional Controversies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DEEP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Consensus is evidence synthesis, not a claim that every study agrees. Thresholds remain local empirical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00898E"/>
                </a:solidFill>
                <a:latin typeface="Microsoft JhengHei"/>
              </a:rPr>
              <a:t>高度自動化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673352"/>
            <a:ext cx="640080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23360" y="123444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00898E"/>
                </a:solidFill>
                <a:latin typeface="Microsoft JhengHei"/>
              </a:rPr>
              <a:t>Human-in-the-loop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60" y="1673352"/>
            <a:ext cx="640080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234440"/>
            <a:ext cx="4114800" cy="86868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0898E"/>
                </a:solidFill>
                <a:latin typeface="Microsoft JhengHei"/>
              </a:rPr>
              <a:t>CURRENT CONSENSUS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Risk-based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EE8F3D"/>
                </a:solidFill>
                <a:latin typeface="Microsoft JhengHei"/>
              </a:rPr>
              <a:t>Deterministic Rules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3136392"/>
            <a:ext cx="640080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269748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EE8F3D"/>
                </a:solidFill>
                <a:latin typeface="Microsoft JhengHei"/>
              </a:rPr>
              <a:t>Learning 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6560" y="3136392"/>
            <a:ext cx="640080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697480"/>
            <a:ext cx="4114800" cy="86868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EE8F3D"/>
                </a:solidFill>
                <a:latin typeface="Microsoft JhengHei"/>
              </a:rPr>
              <a:t>CURRENT CONSENSUS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Hybrid responsibility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50C2C9"/>
                </a:solidFill>
                <a:latin typeface="Microsoft JhengHei"/>
              </a:rPr>
              <a:t>Real operational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4599432"/>
            <a:ext cx="640080" cy="0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23360" y="4160520"/>
            <a:ext cx="2743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50C2C9"/>
                </a:solidFill>
                <a:latin typeface="Microsoft JhengHei"/>
              </a:rPr>
              <a:t>Synthetic / privacy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4599432"/>
            <a:ext cx="640080" cy="0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4160520"/>
            <a:ext cx="4114800" cy="86868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50C2C9"/>
                </a:solidFill>
                <a:latin typeface="Microsoft JhengHei"/>
              </a:rPr>
              <a:t>CURRENT CONSENSUS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232D37"/>
                </a:solidFill>
                <a:latin typeface="Microsoft JhengHei"/>
              </a:rPr>
              <a:t>Mixed evidence + honest validity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8356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C14145"/>
                </a:solidFill>
                <a:latin typeface="Microsoft JhengHei"/>
              </a:rPr>
              <a:t>Unresolved：threshold、人工負荷、domain shift、distribution gap、成本效益。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Ten Deep Questions｜以失敗情境檢查理解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DEEP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完整分析、證據與設計啟示見 deep_research.md Q3。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0898E"/>
                </a:solidFill>
                <a:latin typeface="Microsoft JhengHei"/>
              </a:rPr>
              <a:t>Q01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高 OCR accuracy 為何仍會錯決策？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50C2C9"/>
                </a:solidFill>
                <a:latin typeface="Microsoft JhengHei"/>
              </a:rPr>
              <a:t>Q02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文件與 snapshot 時間不同怎麼辦？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EE8F3D"/>
                </a:solidFill>
                <a:latin typeface="Microsoft JhengHei"/>
              </a:rPr>
              <a:t>Q03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自動通過與危險錯放如何權衡？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279A6B"/>
                </a:solidFill>
                <a:latin typeface="Microsoft JhengHei"/>
              </a:rPr>
              <a:t>Q04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OCR、barcode、主檔衝突時信誰？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6324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C14145"/>
                </a:solidFill>
                <a:latin typeface="Microsoft JhengHei"/>
              </a:rPr>
              <a:t>Q05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什麼是充分 evidence？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0898E"/>
                </a:solidFill>
                <a:latin typeface="Microsoft JhengHei"/>
              </a:rPr>
              <a:t>Q06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為何保留 OCR + Rules baseline？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02336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50C2C9"/>
                </a:solidFill>
                <a:latin typeface="Microsoft JhengHei"/>
              </a:rPr>
              <a:t>Q07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為何 planner 必須 bounded？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EE8F3D"/>
                </a:solidFill>
                <a:latin typeface="Microsoft JhengHei"/>
              </a:rPr>
              <a:t>Q08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人工核准後發現錯誤怎麼追？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8348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279A6B"/>
                </a:solidFill>
                <a:latin typeface="Microsoft JhengHei"/>
              </a:rPr>
              <a:t>Q09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新版型低信心時能降 threshold 嗎？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83480"/>
            <a:ext cx="525780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C14145"/>
                </a:solidFill>
                <a:latin typeface="Microsoft JhengHei"/>
              </a:rPr>
              <a:t>Q10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盤點差異為何不能直接定因？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0F233A"/>
                </a:solidFill>
                <a:latin typeface="Microsoft JhengHei"/>
              </a:rPr>
              <a:t>核心原則：觀測、推論、未知與人工處置必須分開保存。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Proposed Domain AI Agent｜能力與責任邊界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PROPOSED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Agent ≠ fixed pipeline；只有能依 state 選工具、補查、停止或升級者才稱 Agent。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057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00898E"/>
                </a:solidFill>
                <a:latin typeface="Microsoft JhengHei"/>
              </a:rPr>
              <a:t>PLANNER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task → plan
allowlist / max steps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944368"/>
            <a:ext cx="246888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52344" y="1417320"/>
            <a:ext cx="2057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50C2C9"/>
                </a:solidFill>
                <a:latin typeface="Microsoft JhengHei"/>
              </a:rPr>
              <a:t>TOOLS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OCR / parser / SQL
analytics /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9744" y="2944368"/>
            <a:ext cx="246888" cy="0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93208" y="1417320"/>
            <a:ext cx="2057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EE8F3D"/>
                </a:solidFill>
                <a:latin typeface="Microsoft JhengHei"/>
              </a:rPr>
              <a:t>REASONING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facts → conflicts
evidence-linked rationale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50608" y="2944368"/>
            <a:ext cx="246888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34071" y="1417320"/>
            <a:ext cx="2057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C14145"/>
                </a:solidFill>
                <a:latin typeface="Microsoft JhengHei"/>
              </a:rPr>
              <a:t>DECISION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severity × confidence
coverage × freshness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91472" y="2944368"/>
            <a:ext cx="246887" cy="0"/>
          </a:xfrm>
          <a:prstGeom prst="line">
            <a:avLst/>
          </a:prstGeom>
          <a:ln w="254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74936" y="1417320"/>
            <a:ext cx="2057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279A6B"/>
                </a:solidFill>
                <a:latin typeface="Microsoft JhengHei"/>
              </a:rPr>
              <a:t>HUMAN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approve / edit / reject
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69848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LLM：任務映射與受控工具選擇；不得創造數量、SKU 或政策。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Rules／SQL／statistics：可重現計算；最終安全 gate 與正式寫入權限不交給 LLM。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System Architecture｜①–⑧ 可測試模組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PROPOSED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Target design: local-first, read-only inventory, evidence-first, human-gated, append-only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00898E"/>
                </a:solidFill>
                <a:latin typeface="Microsoft JhengHei"/>
              </a:rPr>
              <a:t>① User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scenario /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23444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00898E"/>
                </a:solidFill>
                <a:latin typeface="Microsoft JhengHei"/>
              </a:rPr>
              <a:t>② Input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task + image/PDF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23444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EE8F3D"/>
                </a:solidFill>
                <a:latin typeface="Microsoft JhengHei"/>
              </a:rPr>
              <a:t>③ Planner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bounded tool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34856" y="123444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50C2C9"/>
                </a:solidFill>
                <a:latin typeface="Microsoft JhengHei"/>
              </a:rPr>
              <a:t>④ Retrieval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OCR / parse /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33756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50C2C9"/>
                </a:solidFill>
                <a:latin typeface="Microsoft JhengHei"/>
              </a:rPr>
              <a:t>⑤ Analytics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duplicate / reconcile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333756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EE8F3D"/>
                </a:solidFill>
                <a:latin typeface="Microsoft JhengHei"/>
              </a:rPr>
              <a:t>⑥ Knowledge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rules / master / GS1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333756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C14145"/>
                </a:solidFill>
                <a:latin typeface="Microsoft JhengHei"/>
              </a:rPr>
              <a:t>⑦ Decision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risk + evidence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3337560"/>
            <a:ext cx="251460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279A6B"/>
                </a:solidFill>
                <a:latin typeface="Microsoft JhengHei"/>
              </a:rPr>
              <a:t>⑧ Interaction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result / review / audit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1911095"/>
            <a:ext cx="393192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33872" y="1911095"/>
            <a:ext cx="393192" cy="0"/>
          </a:xfrm>
          <a:prstGeom prst="line">
            <a:avLst/>
          </a:prstGeom>
          <a:ln w="2540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41664" y="1911095"/>
            <a:ext cx="393192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87584" y="2587752"/>
            <a:ext cx="0" cy="749808"/>
          </a:xfrm>
          <a:prstGeom prst="line">
            <a:avLst/>
          </a:prstGeom>
          <a:ln w="25400">
            <a:solidFill>
              <a:srgbClr val="50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741664" y="4014215"/>
            <a:ext cx="393192" cy="0"/>
          </a:xfrm>
          <a:prstGeom prst="line">
            <a:avLst/>
          </a:prstGeom>
          <a:ln w="25400">
            <a:solidFill>
              <a:srgbClr val="279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833872" y="4014215"/>
            <a:ext cx="393192" cy="0"/>
          </a:xfrm>
          <a:prstGeom prst="line">
            <a:avLst/>
          </a:prstGeom>
          <a:ln w="254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926080" y="4014215"/>
            <a:ext cx="393192" cy="0"/>
          </a:xfrm>
          <a:prstGeom prst="line">
            <a:avLst/>
          </a:prstGeom>
          <a:ln w="2540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64208" y="2587752"/>
            <a:ext cx="0" cy="749808"/>
          </a:xfrm>
          <a:prstGeom prst="line">
            <a:avLst/>
          </a:prstGeom>
          <a:ln w="12700">
            <a:solidFill>
              <a:srgbClr val="5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715000"/>
            <a:ext cx="10835640" cy="41148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0F233A"/>
                </a:solidFill>
                <a:latin typeface="Microsoft JhengHei"/>
              </a:rPr>
              <a:t>Human reprocess loop returns to Planner with the same root trace; no formal WMS write in MVP.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Flowchart｜Normal Path, Exception, Human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PROPOSED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Normal=teal；Decision=orange；Exception=red；Human interaction=green.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00898E"/>
                </a:solidFill>
                <a:latin typeface="Microsoft JhengHei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89888" y="1517904"/>
            <a:ext cx="173736" cy="0"/>
          </a:xfrm>
          <a:prstGeom prst="line">
            <a:avLst/>
          </a:prstGeom>
          <a:ln w="1905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0020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00898E"/>
                </a:solidFill>
                <a:latin typeface="Microsoft JhengHei"/>
              </a:rPr>
              <a:t>PROCESS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4328" y="1517904"/>
            <a:ext cx="173736" cy="0"/>
          </a:xfrm>
          <a:prstGeom prst="line">
            <a:avLst/>
          </a:prstGeom>
          <a:ln w="1905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00898E"/>
                </a:solidFill>
                <a:latin typeface="Microsoft JhengHei"/>
              </a:rPr>
              <a:t>OCR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1517904"/>
            <a:ext cx="173736" cy="0"/>
          </a:xfrm>
          <a:prstGeom prst="line">
            <a:avLst/>
          </a:prstGeom>
          <a:ln w="1905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6908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EE8F3D"/>
                </a:solidFill>
                <a:latin typeface="Microsoft JhengHei"/>
              </a:rP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93208" y="1517904"/>
            <a:ext cx="173736" cy="0"/>
          </a:xfrm>
          <a:prstGeom prst="line">
            <a:avLst/>
          </a:prstGeom>
          <a:ln w="1905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00898E"/>
                </a:solidFill>
                <a:latin typeface="Microsoft JhengHei"/>
              </a:rPr>
              <a:t>ANALYTICS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27648" y="1517904"/>
            <a:ext cx="173735" cy="0"/>
          </a:xfrm>
          <a:prstGeom prst="line">
            <a:avLst/>
          </a:prstGeom>
          <a:ln w="1905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00898E"/>
                </a:solidFill>
                <a:latin typeface="Microsoft JhengHei"/>
              </a:rPr>
              <a:t>DOMAIN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2088" y="1517904"/>
            <a:ext cx="173736" cy="0"/>
          </a:xfrm>
          <a:prstGeom prst="line">
            <a:avLst/>
          </a:prstGeom>
          <a:ln w="19050">
            <a:solidFill>
              <a:srgbClr val="008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EE8F3D"/>
                </a:solidFill>
                <a:latin typeface="Microsoft JhengHei"/>
              </a:rPr>
              <a:t>DECISION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1517904"/>
            <a:ext cx="173736" cy="0"/>
          </a:xfrm>
          <a:prstGeom prst="line">
            <a:avLst/>
          </a:prstGeom>
          <a:ln w="19050">
            <a:solidFill>
              <a:srgbClr val="EE8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06840" y="1188720"/>
            <a:ext cx="1024128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279A6B"/>
                </a:solidFill>
                <a:latin typeface="Microsoft JhengHei"/>
              </a:rP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233172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C14145"/>
                </a:solidFill>
                <a:latin typeface="Microsoft JhengHei"/>
              </a:rPr>
              <a:t>EXCEPTION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32D37"/>
                </a:solidFill>
                <a:latin typeface="Microsoft JhengHei"/>
              </a:rPr>
              <a:t>OCR fail → retry once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315468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C14145"/>
                </a:solidFill>
                <a:latin typeface="Microsoft JhengHei"/>
              </a:rPr>
              <a:t>EXCEPTION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32D37"/>
                </a:solidFill>
                <a:latin typeface="Microsoft JhengHei"/>
              </a:rPr>
              <a:t>missing critical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33172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C14145"/>
                </a:solidFill>
                <a:latin typeface="Microsoft JhengHei"/>
              </a:rPr>
              <a:t>EXCEPTION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32D37"/>
                </a:solidFill>
                <a:latin typeface="Microsoft JhengHei"/>
              </a:rPr>
              <a:t>duplicate / mismatch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15468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100" b="1">
                <a:solidFill>
                  <a:srgbClr val="C14145"/>
                </a:solidFill>
                <a:latin typeface="Microsoft JhengHei"/>
              </a:rPr>
              <a:t>EXCEPTION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232D37"/>
                </a:solidFill>
                <a:latin typeface="Microsoft JhengHei"/>
              </a:rPr>
              <a:t>stale source / rule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572000"/>
            <a:ext cx="2880360" cy="91440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400" b="1">
                <a:solidFill>
                  <a:srgbClr val="279A6B"/>
                </a:solidFill>
                <a:latin typeface="Microsoft JhengHei"/>
              </a:rPr>
              <a:t>HUMAN REVIEW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approve / edit / reject / reprocess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20440" y="2990087"/>
            <a:ext cx="2587752" cy="1581913"/>
          </a:xfrm>
          <a:prstGeom prst="line">
            <a:avLst/>
          </a:prstGeom>
          <a:ln w="127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7760" y="3813048"/>
            <a:ext cx="1170432" cy="758952"/>
          </a:xfrm>
          <a:prstGeom prst="line">
            <a:avLst/>
          </a:prstGeom>
          <a:ln w="127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108192" y="2990087"/>
            <a:ext cx="384048" cy="1581913"/>
          </a:xfrm>
          <a:prstGeom prst="line">
            <a:avLst/>
          </a:prstGeom>
          <a:ln w="127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108192" y="3813048"/>
            <a:ext cx="1938528" cy="758952"/>
          </a:xfrm>
          <a:prstGeom prst="line">
            <a:avLst/>
          </a:prstGeom>
          <a:ln w="12700">
            <a:solidFill>
              <a:srgbClr val="C14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914400" y="1188720"/>
            <a:ext cx="3749040" cy="3840480"/>
          </a:xfrm>
          <a:prstGeom prst="line">
            <a:avLst/>
          </a:prstGeom>
          <a:ln w="19050">
            <a:solidFill>
              <a:srgbClr val="279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5806440"/>
            <a:ext cx="10881360" cy="420624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0F233A"/>
                </a:solidFill>
                <a:latin typeface="Microsoft JhengHei"/>
              </a:rPr>
              <a:t>Fail-safe：來源不可用 ≠ 查無資料；模糊候選 ≠ confirmed duplicate；reprocess 不覆寫舊 trace。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Algorithm 1｜Bounded Planning + Evidence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PROPOSED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Complete 92-line pseudocode: algorithm.md；slide shows critical control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6720840" cy="4983480"/>
          </a:xfrm>
          <a:prstGeom prst="rect">
            <a:avLst/>
          </a:prstGeom>
          <a:solidFill>
            <a:srgbClr val="193852"/>
          </a:solidFill>
          <a:ln>
            <a:solidFill>
              <a:srgbClr val="193852"/>
            </a:solidFill>
          </a:ln>
        </p:spPr>
        <p:txBody>
          <a:bodyPr wrap="none" lIns="164592" rIns="164592" tIns="164592" bIns="16459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01  validate input; start append-only trace
04  task ← UNDERSTAND_TASK(q, allowed scenarios)
09  plan ← BUILD_BOUNDED_PLAN(allowed tools, max steps)
15  OCR → retry once → ESCALATE if unusable
24  parse typed schema; link fields to OCR spans
33  read-only inventory / history / master queries
43  exact duplicate ≠ fuzzy candidates
50  evaluate versioned warehouse rules
57  reason from evidence only
62  confidence + coverage + risk
67  duplicate / mismatch / uncertainty → HUMAN REVIEW
79  ASSERT_NO_WMS_OR_INVENTORY_WRITE_OCCURRED
91  append trace and 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840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00898E"/>
                </a:solidFill>
                <a:latin typeface="Microsoft JhengHei"/>
              </a:rPr>
              <a:t>INVARIANT 1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All tools are allowlisted and schema-valid.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43200"/>
            <a:ext cx="3840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EE8F3D"/>
                </a:solidFill>
                <a:latin typeface="Microsoft JhengHei"/>
              </a:rPr>
              <a:t>INVARIANT 2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Every material claim has evidence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160520"/>
            <a:ext cx="3840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C14145"/>
                </a:solidFill>
                <a:latin typeface="Microsoft JhengHei"/>
              </a:rPr>
              <a:t>INVARIANT 3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High risk / uncertainty cannot auto-write.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MVP Implementation｜What Exists vs. What Is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TECHNICAL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Automated tests: 6/6 synthetic fixtures passed; this is not formal experiment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474720" cy="658368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279A6B"/>
                </a:solidFill>
                <a:latin typeface="Microsoft JhengHei"/>
              </a:rP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3246120" cy="3611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Streamlit upload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mock/sidecar OCR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typed parser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SQLite seed/query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exact duplicate + rules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79A6B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human confirm +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474720" cy="658368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EE8F3D"/>
                </a:solidFill>
                <a:latin typeface="Microsoft JhengHei"/>
              </a:rPr>
              <a:t>PARTIAL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65960"/>
            <a:ext cx="3246120" cy="3611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E8F3D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bounded planner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EE8F3D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embedded-text PDF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EE8F3D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confidence gate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EE8F3D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target architecture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143000"/>
            <a:ext cx="3474720" cy="658368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C14145"/>
                </a:solidFill>
                <a:latin typeface="Microsoft JhengHei"/>
              </a:rP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965960"/>
            <a:ext cx="3246120" cy="3611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14145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real/scanned OCR benchmark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14145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LLM adaptive planner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14145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fuzzy duplicate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14145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Google Sheets adapter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14145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formal WMS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881360" cy="438912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F233A"/>
                </a:solidFill>
                <a:latin typeface="Microsoft JhengHei"/>
              </a:rPr>
              <a:t>Python 3.11 + Streamlit + SQLite + Pandas｜一般學生電腦，不訓練大型模型。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Dataset Design｜No Leakage, No Sensitive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Main dataset target is planned, not collected: 300–500 documents, ≥3 types, ≥5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005840"/>
            <a:ext cx="4754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00898E"/>
                </a:solidFill>
                <a:latin typeface="Microsoft JhengHei"/>
              </a:rPr>
              <a:t>PUBLIC PRETEST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SROIE / DocVQA
pipeline sanity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4754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EE8F3D"/>
                </a:solidFill>
                <a:latin typeface="Microsoft JhengHei"/>
              </a:rPr>
              <a:t>MAIN DATASET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anonymous / synthetic
Chinese + English warehouse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931920"/>
            <a:ext cx="4754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600" b="1">
                <a:solidFill>
                  <a:srgbClr val="279A6B"/>
                </a:solidFill>
                <a:latin typeface="Microsoft JhengHei"/>
              </a:rPr>
              <a:t>PAIRED CONTEXT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immutable snapshots
master + history + gold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43000"/>
            <a:ext cx="4663440" cy="352044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700" b="1">
                <a:solidFill>
                  <a:srgbClr val="0F233A"/>
                </a:solidFill>
                <a:latin typeface="Microsoft JhengHei"/>
              </a:rPr>
              <a:t>GROUP SPLIT</a:t>
            </a:r>
          </a:p>
          <a:p>
            <a:pPr>
              <a:spcBef>
                <a:spcPts val="500"/>
              </a:spcBef>
            </a:pPr>
            <a:r>
              <a:rPr sz="1800" b="0">
                <a:solidFill>
                  <a:srgbClr val="232D37"/>
                </a:solidFill>
                <a:latin typeface="Microsoft JhengHei"/>
              </a:rPr>
              <a:t>vendor_id + template_id
60 / 20 / 20
seed = 20261024
Same original + augmentation
MUST stay in one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983480"/>
            <a:ext cx="45720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C14145"/>
                </a:solidFill>
                <a:latin typeface="Microsoft JhengHei"/>
              </a:rPr>
              <a:t>Actual sample size / license / class distribution：NOT RUN／待查證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Three Baselines｜Fair Paired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All baselines use the same test documents and immutable database snapshots.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000" b="1">
                <a:solidFill>
                  <a:srgbClr val="00898E"/>
                </a:solidFill>
                <a:latin typeface="Microsoft JhengHei"/>
              </a:rPr>
              <a:t>B0 MANUAL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人工輸入＋人工核對
Operational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000" b="1">
                <a:solidFill>
                  <a:srgbClr val="EE8F3D"/>
                </a:solidFill>
                <a:latin typeface="Microsoft JhengHei"/>
              </a:rPr>
              <a:t>B1 FIXED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OCR＋Fixed Rules
Non-agent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234440"/>
            <a:ext cx="3429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000" b="1">
                <a:solidFill>
                  <a:srgbClr val="279A6B"/>
                </a:solidFill>
                <a:latin typeface="Microsoft JhengHei"/>
              </a:rPr>
              <a:t>B2 AGENT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32D37"/>
                </a:solidFill>
                <a:latin typeface="Microsoft JhengHei"/>
              </a:rPr>
              <a:t>OCR＋Domain AI Agent
Proposed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698480" cy="50292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0F233A"/>
                </a:solidFill>
                <a:latin typeface="Microsoft JhengHei"/>
              </a:rPr>
              <a:t>COMMON：OCR｜parser｜rules｜thresholds｜hardware｜test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24128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B1 固定順序、不 replan；B2 才能依中間 state 選工具或升級。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0898E"/>
                </a:solidFill>
                <a:latin typeface="Microsoft JhengHei"/>
              </a:rPr>
              <a:t>● </a:t>
            </a:r>
            <a:r>
              <a:rPr sz="1500" b="0">
                <a:solidFill>
                  <a:srgbClr val="232D37"/>
                </a:solidFill>
                <a:latin typeface="Microsoft JhengHei"/>
              </a:rPr>
              <a:t>若 B1/B2 使用不同 OCR 或規則，就無法把差異歸因於 Agent planning。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Evaluation Metrics &amp;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Primary endpoint proposed: anomaly macro-F1（teacher confirmation required）；all results Not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26060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00898E"/>
                </a:solidFill>
                <a:latin typeface="Microsoft JhengHei"/>
              </a:rPr>
              <a:t>DOCUMENT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CER / Character Accuracy
Field EM / Document 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6060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EE8F3D"/>
                </a:solidFill>
                <a:latin typeface="Microsoft JhengHei"/>
              </a:rPr>
              <a:t>ANOMALY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Precision / Recall / macro-F1
Duplicate Accuracy +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26060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50C2C9"/>
                </a:solidFill>
                <a:latin typeface="Microsoft JhengHei"/>
              </a:rPr>
              <a:t>OPERATIONS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Mean / median / P95 time
Human intervention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143000"/>
            <a:ext cx="260604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500" b="1">
                <a:solidFill>
                  <a:srgbClr val="279A6B"/>
                </a:solidFill>
                <a:latin typeface="Microsoft JhengHei"/>
              </a:rPr>
              <a:t>AGENT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32D37"/>
                </a:solidFill>
                <a:latin typeface="Microsoft JhengHei"/>
              </a:rPr>
              <a:t>Tool precision / recall
Safe tool / task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37560"/>
            <a:ext cx="1965960" cy="82296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1 Annotate + adjudicate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3749039"/>
            <a:ext cx="246888" cy="0"/>
          </a:xfrm>
          <a:prstGeom prst="line">
            <a:avLst/>
          </a:prstGeom>
          <a:ln w="12700">
            <a:solidFill>
              <a:srgbClr val="0F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3337560"/>
            <a:ext cx="1965960" cy="82296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2 Freeze split/config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749039"/>
            <a:ext cx="246888" cy="0"/>
          </a:xfrm>
          <a:prstGeom prst="line">
            <a:avLst/>
          </a:prstGeom>
          <a:ln w="12700">
            <a:solidFill>
              <a:srgbClr val="0F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3337560"/>
            <a:ext cx="1965960" cy="82296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3 Run paired B0/B1/B2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3749039"/>
            <a:ext cx="246888" cy="0"/>
          </a:xfrm>
          <a:prstGeom prst="line">
            <a:avLst/>
          </a:prstGeom>
          <a:ln w="12700">
            <a:solidFill>
              <a:srgbClr val="0F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3337560"/>
            <a:ext cx="1965960" cy="82296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4 Bootstrap 95% CI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0" y="3749039"/>
            <a:ext cx="246888" cy="0"/>
          </a:xfrm>
          <a:prstGeom prst="line">
            <a:avLst/>
          </a:prstGeom>
          <a:ln w="12700">
            <a:solidFill>
              <a:srgbClr val="0F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3337560"/>
            <a:ext cx="1965960" cy="822960"/>
          </a:xfrm>
          <a:prstGeom prst="roundRect">
            <a:avLst/>
          </a:prstGeom>
          <a:solidFill>
            <a:srgbClr val="F2F7F9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5 Error analysis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51560" y="4663440"/>
          <a:ext cx="100584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1005840"/>
                <a:gridCol w="1005840"/>
                <a:gridCol w="1005840"/>
                <a:gridCol w="1645920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B0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B1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B2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Status</a:t>
                      </a:r>
                    </a:p>
                  </a:txBody>
                  <a:tcPr marL="45720" marR="45720" marT="27432" marB="27432">
                    <a:solidFill>
                      <a:srgbClr val="0F233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D37"/>
                          </a:solidFill>
                          <a:latin typeface="Microsoft JhengHei"/>
                        </a:rPr>
                        <a:t>macro-F1 / time / intervention / completion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D37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D37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D37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D37"/>
                          </a:solidFill>
                          <a:latin typeface="Microsoft JhengHei"/>
                        </a:rPr>
                        <a:t>NOT RUN</a:t>
                      </a:r>
                    </a:p>
                  </a:txBody>
                  <a:tcPr marL="45720" marR="45720" marT="27432" marB="27432">
                    <a:solidFill>
                      <a:srgbClr val="F2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Expected Contributions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Expected outcomes are hypotheses to test, not observed findings.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6060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00898E"/>
                </a:solidFill>
                <a:latin typeface="Microsoft JhengHei"/>
              </a:rPr>
              <a:t>C1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Research framing
OCR → domain decision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6060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EE8F3D"/>
                </a:solidFill>
                <a:latin typeface="Microsoft JhengHei"/>
              </a:rPr>
              <a:t>C2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System design
evidence-first + human-gated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26060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C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50C2C9"/>
                </a:solidFill>
                <a:latin typeface="Microsoft JhengHei"/>
              </a:rPr>
              <a:t>C3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Evaluation
fair B0/B1/B2 + safety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234440"/>
            <a:ext cx="26060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2400" b="1">
                <a:solidFill>
                  <a:srgbClr val="279A6B"/>
                </a:solidFill>
                <a:latin typeface="Microsoft JhengHei"/>
              </a:rPr>
              <a:t>C4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232D37"/>
                </a:solidFill>
                <a:latin typeface="Microsoft JhengHei"/>
              </a:rPr>
              <a:t>Artifact
student-computer open-source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698480" cy="59436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0F233A"/>
                </a:solidFill>
                <a:latin typeface="Microsoft JhengHei"/>
              </a:rPr>
              <a:t>EXPECTED：B2 可能改善跨來源異常處理與 auditability；代價可能是 latency、complexity 與人工 threshold 調整。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5943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C14145"/>
                </a:solidFill>
                <a:latin typeface="Microsoft JhengHei"/>
              </a:rPr>
              <a:t>NOT CLAIMED：尚無正式 accuracy、F1、time saving、ROI 或「優於所有方法」的結果。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6984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0F233A"/>
                </a:solidFill>
                <a:latin typeface="Microsoft JhengHei"/>
              </a:rPr>
              <a:t>References, Submission 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92608"/>
            <a:ext cx="8229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1500" b="1">
                <a:solidFill>
                  <a:srgbClr val="00898E"/>
                </a:solidFill>
                <a:latin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3657600" cy="2468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00" b="1">
                <a:solidFill>
                  <a:srgbClr val="5B6B78"/>
                </a:solidFill>
                <a:latin typeface="Microsoft JhengHe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750" b="0">
                <a:solidFill>
                  <a:srgbClr val="5B6B78"/>
                </a:solidFill>
                <a:latin typeface="Microsoft JhengHei"/>
              </a:rPr>
              <a:t>Repository: https://github.com/john19991225-commits/-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6858000" cy="5074920"/>
          </a:xfrm>
          <a:prstGeom prst="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txBody>
          <a:bodyPr wrap="none" lIns="164592" rIns="164592" tIns="164592" bIns="164592" anchor="t">
            <a:spAutoFit/>
          </a:bodyPr>
          <a:lstStyle/>
          <a:p>
            <a:pPr algn="l"/>
            <a:r>
              <a:rPr sz="1250" b="0">
                <a:solidFill>
                  <a:srgbClr val="232D37"/>
                </a:solidFill>
                <a:latin typeface="Microsoft JhengHei"/>
              </a:rPr>
              <a:t>[1] Sun et al. (2025), DocAgent, EMNLP. doi:10.18653/v1/2025.emnlp-main.893
[2] Li, Conen &amp; Aller (2025), AID-Agent, REALM. doi:10.18653/v1/2025.realm-1.6
[3] Principe et al. (2025), LDK, ACL Anthology 2025.ldk-1.25
[6] Puga Mendoza et al. (2025), Procedia CS. doi:10.1016/j.procs.2025.01.185
[8] Fakhrai Rad et al. (2025), Review of Managerial Science. doi:10.1007/s11846-025-00858-1
[9] El Kadmiri et al. (2026), Cleaner Logistics and Supply Chain. doi:10.1016/j.clscn.2026.100340
[10] GS1 Logistic Label Guideline 1.3 (2019)｜[12] NIST AI RMF 1.0 (2023)
[13] Alam et al. (2026), ICT Express. doi:10.1016/j.icte.2026.01.009
Full verified list: README.md / proposal.md / deep_research.md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143000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279A6B"/>
                </a:solidFill>
                <a:latin typeface="Microsoft JhengHei"/>
              </a:rPr>
              <a:t>NOW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Proposal + Design +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130552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0898E"/>
                </a:solidFill>
                <a:latin typeface="Microsoft JhengHei"/>
              </a:rPr>
              <a:t>NEXT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teacher confirms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118104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EE8F3D"/>
                </a:solidFill>
                <a:latin typeface="Microsoft JhengHei"/>
              </a:rPr>
              <a:t>PILOT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30–50 compliant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105656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0F233A"/>
                </a:solidFill>
                <a:latin typeface="Microsoft JhengHei"/>
              </a:rPr>
              <a:t>FREEZE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manifest + versions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5093208"/>
            <a:ext cx="38404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14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>
            <a:pPr algn="ctr"/>
            <a:r>
              <a:rPr sz="1300" b="1">
                <a:solidFill>
                  <a:srgbClr val="C14145"/>
                </a:solidFill>
                <a:latin typeface="Microsoft JhengHei"/>
              </a:rPr>
              <a:t>RUN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32D37"/>
                </a:solidFill>
                <a:latin typeface="Microsoft JhengHei"/>
              </a:rPr>
              <a:t>B0 / B1 / B2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Warehouse AI Agent — Final Project Proposal</dc:title>
  <dc:subject>Domain AI Agent, document understanding, inventory anomaly decision</dc:subject>
  <dc:creator>Smart Warehouse AI Agent Project Team</dc:creator>
  <cp:keywords/>
  <dc:description>Formal proposal deck. Experimental results are Not Run / Expected Outcomes.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